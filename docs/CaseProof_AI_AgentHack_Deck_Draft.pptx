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/>
            </a:pPr>
            <a:r>
              <a:t>CaseProof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79552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/>
            </a:pPr>
            <a:r>
              <a:t>A human-review gate for AI-handled UiPath Maestro cases.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795527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2300"/>
            </a:pPr>
            <a:r>
              <a:t>Agents can prepare cases, but they should not silently approve risky cases.</a:t>
            </a:r>
          </a:p>
          <a:p>
            <a:pPr>
              <a:spcAft>
                <a:spcPts val="900"/>
              </a:spcAft>
              <a:defRPr sz="2300"/>
            </a:pPr>
            <a:r>
              <a:t>CaseProof checks evidence, policy, stage order, and review routing.</a:t>
            </a:r>
          </a:p>
          <a:p>
            <a:pPr>
              <a:spcAft>
                <a:spcPts val="900"/>
              </a:spcAft>
              <a:defRPr sz="2300"/>
            </a:pPr>
            <a:r>
              <a:t>The only allowed outcome is a human review task.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/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795527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2300"/>
            </a:pPr>
            <a:r>
              <a:t>A case can look complete while key evidence is missing.</a:t>
            </a:r>
          </a:p>
          <a:p>
            <a:pPr>
              <a:spcAft>
                <a:spcPts val="900"/>
              </a:spcAft>
              <a:defRPr sz="2300"/>
            </a:pPr>
            <a:r>
              <a:t>An agent can skip a policy step or reuse the wrong rationale.</a:t>
            </a:r>
          </a:p>
          <a:p>
            <a:pPr>
              <a:spcAft>
                <a:spcPts val="900"/>
              </a:spcAft>
              <a:defRPr sz="2300"/>
            </a:pPr>
            <a:r>
              <a:t>A high-value action can be routed as if it were low risk.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/>
            </a:pPr>
            <a:r>
              <a:t>What It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795527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2300"/>
            </a:pPr>
            <a:r>
              <a:t>Required evidence is present and referenced.</a:t>
            </a:r>
          </a:p>
          <a:p>
            <a:pPr>
              <a:spcAft>
                <a:spcPts val="900"/>
              </a:spcAft>
              <a:defRPr sz="2300"/>
            </a:pPr>
            <a:r>
              <a:t>The decision belongs to the same case.</a:t>
            </a:r>
          </a:p>
          <a:p>
            <a:pPr>
              <a:spcAft>
                <a:spcPts val="900"/>
              </a:spcAft>
              <a:defRPr sz="2300"/>
            </a:pPr>
            <a:r>
              <a:t>Maestro stages appear in the required order.</a:t>
            </a:r>
          </a:p>
          <a:p>
            <a:pPr>
              <a:spcAft>
                <a:spcPts val="900"/>
              </a:spcAft>
              <a:defRPr sz="2300"/>
            </a:pPr>
            <a:r>
              <a:t>Policy caps route risky cases to human 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/>
            </a:pPr>
            <a:r>
              <a:t>Demo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795527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2300"/>
            </a:pPr>
            <a:r>
              <a:t>HOLD: evidence is missing.</a:t>
            </a:r>
          </a:p>
          <a:p>
            <a:pPr>
              <a:spcAft>
                <a:spcPts val="900"/>
              </a:spcAft>
              <a:defRPr sz="2300"/>
            </a:pPr>
            <a:r>
              <a:t>ALLOW_HUMAN_REVIEW_ONLY: ready for a person.</a:t>
            </a:r>
          </a:p>
          <a:p>
            <a:pPr>
              <a:spcAft>
                <a:spcPts val="900"/>
              </a:spcAft>
              <a:defRPr sz="2300"/>
            </a:pPr>
            <a:r>
              <a:t>BLOCK: policy bypass or skipped stage.</a:t>
            </a:r>
          </a:p>
          <a:p>
            <a:pPr>
              <a:spcAft>
                <a:spcPts val="900"/>
              </a:spcAft>
              <a:defRPr sz="2300"/>
            </a:pPr>
            <a:r>
              <a:t>Auto-approval remains disabled.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/>
            </a:pPr>
            <a:r>
              <a:t>UiPath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795527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2300"/>
            </a:pPr>
            <a:r>
              <a:t>UiPath Maestro is the orchestration layer.</a:t>
            </a:r>
          </a:p>
          <a:p>
            <a:pPr>
              <a:spcAft>
                <a:spcPts val="900"/>
              </a:spcAft>
              <a:defRPr sz="2300"/>
            </a:pPr>
            <a:r>
              <a:t>Studio Web or API Workflow can call the validator.</a:t>
            </a:r>
          </a:p>
          <a:p>
            <a:pPr>
              <a:spcAft>
                <a:spcPts val="900"/>
              </a:spcAft>
              <a:defRPr sz="2300"/>
            </a:pPr>
            <a:r>
              <a:t>The result opens a review task instead of taking an external action.</a:t>
            </a:r>
          </a:p>
          <a:p>
            <a:pPr>
              <a:spcAft>
                <a:spcPts val="900"/>
              </a:spcAft>
              <a:defRPr sz="2300"/>
            </a:pPr>
            <a:r>
              <a:t>Public repo uses synthetic packets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/>
            </a:pPr>
            <a:r>
              <a:t>Claim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795527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2300"/>
            </a:pPr>
            <a:r>
              <a:t>This is a public-safe hackathon prototype.</a:t>
            </a:r>
          </a:p>
          <a:p>
            <a:pPr>
              <a:spcAft>
                <a:spcPts val="900"/>
              </a:spcAft>
              <a:defRPr sz="2300"/>
            </a:pPr>
            <a:r>
              <a:t>It is not production approval or compliance certification.</a:t>
            </a:r>
          </a:p>
          <a:p>
            <a:pPr>
              <a:spcAft>
                <a:spcPts val="900"/>
              </a:spcAft>
              <a:defRPr sz="2300"/>
            </a:pPr>
            <a:r>
              <a:t>A real tenant run should bind case URL, process instance, and review task.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/>
            </a:pPr>
            <a:r>
              <a:t>Demo Dashboard</a:t>
            </a:r>
          </a:p>
        </p:txBody>
      </p:sp>
      <p:pic>
        <p:nvPicPr>
          <p:cNvPr id="3" name="Picture 2" descr="caseproof_dashboard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51560"/>
            <a:ext cx="7818120" cy="49514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